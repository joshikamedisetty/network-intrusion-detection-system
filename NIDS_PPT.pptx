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Barlow Bold" panose="020B0604020202020204" charset="0"/>
      <p:regular r:id="rId15"/>
    </p:embeddedFont>
    <p:embeddedFont>
      <p:font typeface="Barlow Light" panose="00000400000000000000" pitchFamily="2" charset="0"/>
      <p:regular r:id="rId16"/>
    </p:embeddedFont>
    <p:embeddedFont>
      <p:font typeface="Montserrat" panose="00000500000000000000" pitchFamily="2" charset="0"/>
      <p:regular r:id="rId17"/>
    </p:embeddedFont>
    <p:embeddedFont>
      <p:font typeface="Montserrat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45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48717"/>
            <a:ext cx="819611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Network Intrusion Detection System using 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3943" y="863203"/>
            <a:ext cx="819611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Machine Learning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245343" y="1396082"/>
            <a:ext cx="8653314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machine learning-based intrusion detection system built on the CICIDS2017 dataset and enhanced with ensemble learning and explainable AI.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73943" y="1693590"/>
            <a:ext cx="8196114" cy="3001119"/>
          </a:xfrm>
          <a:prstGeom prst="roundRect">
            <a:avLst>
              <a:gd name="adj" fmla="val 5645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78706" y="1698352"/>
            <a:ext cx="4093294" cy="1857226"/>
          </a:xfrm>
          <a:prstGeom prst="rect">
            <a:avLst/>
          </a:prstGeom>
          <a:solidFill>
            <a:srgbClr val="D4E9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1592" y="1811238"/>
            <a:ext cx="386752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- CICIDS2017 Dataset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592" y="2061493"/>
            <a:ext cx="3867522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2.5M+ network flows </a:t>
            </a:r>
            <a:endParaRPr lang="en-US" sz="850" dirty="0"/>
          </a:p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78 network traffic features 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traffic classes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1698352"/>
            <a:ext cx="4093294" cy="1857226"/>
          </a:xfrm>
          <a:prstGeom prst="rect">
            <a:avLst/>
          </a:prstGeom>
          <a:solidFill>
            <a:srgbClr val="D4E9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0" y="1698352"/>
            <a:ext cx="14288" cy="1857226"/>
          </a:xfrm>
          <a:prstGeom prst="roundRect">
            <a:avLst>
              <a:gd name="adj" fmla="val 1185607"/>
            </a:avLst>
          </a:prstGeom>
          <a:solidFill>
            <a:srgbClr val="BACF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84886" y="1811238"/>
            <a:ext cx="386752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Models - 6 Machine Learning Models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84886" y="2061493"/>
            <a:ext cx="3867522" cy="1381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Tree </a:t>
            </a:r>
            <a:endParaRPr lang="en-US" sz="850" dirty="0"/>
          </a:p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SVM </a:t>
            </a:r>
            <a:endParaRPr lang="en-US" sz="850" dirty="0"/>
          </a:p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MLP </a:t>
            </a:r>
            <a:endParaRPr lang="en-US" sz="850" dirty="0"/>
          </a:p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</a:t>
            </a:r>
            <a:endParaRPr lang="en-US" sz="850" dirty="0"/>
          </a:p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 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LightGBM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8706" y="3555578"/>
            <a:ext cx="4093294" cy="1134368"/>
          </a:xfrm>
          <a:prstGeom prst="rect">
            <a:avLst/>
          </a:prstGeom>
          <a:solidFill>
            <a:srgbClr val="D4E9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8706" y="3555578"/>
            <a:ext cx="4093294" cy="14288"/>
          </a:xfrm>
          <a:prstGeom prst="roundRect">
            <a:avLst>
              <a:gd name="adj" fmla="val 1185607"/>
            </a:avLst>
          </a:prstGeom>
          <a:solidFill>
            <a:srgbClr val="BACF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1592" y="3668464"/>
            <a:ext cx="386752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Best Performing Model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1592" y="3918719"/>
            <a:ext cx="3867522" cy="41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Accuracy:</a:t>
            </a:r>
            <a:r>
              <a:rPr lang="en-US" sz="85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99.80%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0" y="3555578"/>
            <a:ext cx="4093294" cy="1134368"/>
          </a:xfrm>
          <a:prstGeom prst="rect">
            <a:avLst/>
          </a:prstGeom>
          <a:solidFill>
            <a:srgbClr val="D4E9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0" y="3555578"/>
            <a:ext cx="14288" cy="1134368"/>
          </a:xfrm>
          <a:prstGeom prst="roundRect">
            <a:avLst>
              <a:gd name="adj" fmla="val 1185607"/>
            </a:avLst>
          </a:prstGeom>
          <a:solidFill>
            <a:srgbClr val="BACF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0" y="3555578"/>
            <a:ext cx="4093294" cy="14288"/>
          </a:xfrm>
          <a:prstGeom prst="roundRect">
            <a:avLst>
              <a:gd name="adj" fmla="val 1185607"/>
            </a:avLst>
          </a:prstGeom>
          <a:solidFill>
            <a:srgbClr val="BACF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84886" y="3668464"/>
            <a:ext cx="386752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Explainable AI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84886" y="3918719"/>
            <a:ext cx="3867522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Feature Importance </a:t>
            </a:r>
            <a:endParaRPr lang="en-US" sz="850" dirty="0"/>
          </a:p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SHAP Summary Plot 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SHAP Force Plot</a:t>
            </a:r>
            <a:endParaRPr lang="en-US" sz="8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910C9A-C5CB-FCFB-DF82-E3D816C43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748" y="4844357"/>
            <a:ext cx="2075888" cy="2553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28315"/>
            <a:ext cx="8196114" cy="383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9930" y="884188"/>
            <a:ext cx="4123804" cy="2714699"/>
          </a:xfrm>
          <a:prstGeom prst="roundRect">
            <a:avLst>
              <a:gd name="adj" fmla="val 10311"/>
            </a:avLst>
          </a:prstGeom>
          <a:solidFill>
            <a:srgbClr val="063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6537" y="998934"/>
            <a:ext cx="3890590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is a Network Intrusion?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6537" y="1305446"/>
            <a:ext cx="3890590" cy="47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Unauthorized or malicious activity targeting a computer network.</a:t>
            </a:r>
            <a:endParaRPr lang="en-US" sz="9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Examples 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6537" y="1882155"/>
            <a:ext cx="3890590" cy="635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DDoS attacks</a:t>
            </a:r>
            <a:endParaRPr lang="en-US" sz="900" dirty="0"/>
          </a:p>
          <a:p>
            <a:pPr marL="182880" indent="-182880" algn="l">
              <a:lnSpc>
                <a:spcPct val="13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 Scanning</a:t>
            </a:r>
            <a:endParaRPr lang="en-US" sz="900" dirty="0"/>
          </a:p>
          <a:p>
            <a:pPr marL="182880" indent="-182880" algn="l">
              <a:lnSpc>
                <a:spcPct val="13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Brute Force attacks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6537" y="2621012"/>
            <a:ext cx="4347790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attacks can: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6537" y="2909367"/>
            <a:ext cx="3890590" cy="635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Disrupt network services</a:t>
            </a:r>
            <a:endParaRPr lang="en-US" sz="900" dirty="0"/>
          </a:p>
          <a:p>
            <a:pPr marL="182880" indent="-182880" algn="l">
              <a:lnSpc>
                <a:spcPct val="13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Steal sensitive information</a:t>
            </a:r>
            <a:endParaRPr lang="en-US" sz="900" dirty="0"/>
          </a:p>
          <a:p>
            <a:pPr marL="182880" indent="-182880" algn="l">
              <a:lnSpc>
                <a:spcPct val="13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Gain unauthorized access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19042" y="998934"/>
            <a:ext cx="3955777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Detection Matters?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19042" y="1305446"/>
            <a:ext cx="3955777" cy="1028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rule-based intrusion detection systems rely on predefined signatures and often fail to detect new or evolving attack patterns. As cyber threats become more sophisticated, intelligent detection methods are required.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19042" y="2448818"/>
            <a:ext cx="3955777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Machine Learning?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19042" y="2755329"/>
            <a:ext cx="3955777" cy="740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 analyzes historical network traffic to learn patterns of normal and malicious behavior. Unlike static rule-based systems, ML models can generalize from data and improve detection of previously unseen attacks.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943" y="3727996"/>
            <a:ext cx="2655540" cy="1087115"/>
          </a:xfrm>
          <a:prstGeom prst="roundRect">
            <a:avLst>
              <a:gd name="adj" fmla="val 1609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4838" y="3858890"/>
            <a:ext cx="2393752" cy="201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589C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DDoS</a:t>
            </a: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4838" y="4129013"/>
            <a:ext cx="2393752" cy="555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Overwhelms a server or network with excessive traffic, making services unavailable.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4230" y="3727996"/>
            <a:ext cx="2655540" cy="1087115"/>
          </a:xfrm>
          <a:prstGeom prst="roundRect">
            <a:avLst>
              <a:gd name="adj" fmla="val 1609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75124" y="3858890"/>
            <a:ext cx="2393752" cy="201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589C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Port Scanning</a:t>
            </a: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75124" y="4129013"/>
            <a:ext cx="2393752" cy="37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Scans a target system to discover open ports and running services.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14517" y="3727996"/>
            <a:ext cx="2655540" cy="1087115"/>
          </a:xfrm>
          <a:prstGeom prst="roundRect">
            <a:avLst>
              <a:gd name="adj" fmla="val 1609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45411" y="3858890"/>
            <a:ext cx="2393752" cy="201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589C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Brute Force</a:t>
            </a: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5411" y="4129013"/>
            <a:ext cx="2393752" cy="555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Repeatedly attempts different username-password combinations to gain unauthorized access.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B7502B4-74CA-96A5-21A6-CA039ADBC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748" y="4844357"/>
            <a:ext cx="2075888" cy="2553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26008"/>
            <a:ext cx="8196114" cy="377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Dataset: CICIDS2017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73943" y="981447"/>
            <a:ext cx="3958084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Source &amp; Composition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73943" y="1281410"/>
            <a:ext cx="3958084" cy="904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CICIDS2017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developed by the </a:t>
            </a: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Canadian Institute for Cybersecurity (CIC)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contains realistic benign and malicious network traffic captured in a controlled environment. It is one of the most widely used benchmark datasets for evaluating intrusion detection systems.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3943" y="2310631"/>
            <a:ext cx="3958084" cy="719807"/>
          </a:xfrm>
          <a:prstGeom prst="roundRect">
            <a:avLst>
              <a:gd name="adj" fmla="val 2392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3452" y="2430140"/>
            <a:ext cx="3719066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2.5M+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3452" y="2730103"/>
            <a:ext cx="3719066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Flows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3943" y="3141613"/>
            <a:ext cx="3958084" cy="719807"/>
          </a:xfrm>
          <a:prstGeom prst="roundRect">
            <a:avLst>
              <a:gd name="adj" fmla="val 2392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3452" y="3261122"/>
            <a:ext cx="3719066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78  Traffic Features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3452" y="3561085"/>
            <a:ext cx="3719066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characteristics per flow record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3943" y="3972595"/>
            <a:ext cx="3958084" cy="719807"/>
          </a:xfrm>
          <a:prstGeom prst="roundRect">
            <a:avLst>
              <a:gd name="adj" fmla="val 2392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3452" y="4092104"/>
            <a:ext cx="3719066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12  Traffic Classes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3452" y="4392067"/>
            <a:ext cx="3719066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Distinct malicious traffic categories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16735" y="981447"/>
            <a:ext cx="3958084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Features Used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16735" y="1281410"/>
            <a:ext cx="3958084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network traffic features capture flow behavior and enable machine learning models to distinguish between benign and malicious traffic.</a:t>
            </a:r>
            <a:endParaRPr lang="en-US" sz="9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6735" y="1948979"/>
            <a:ext cx="1923455" cy="91968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02919" y="2078013"/>
            <a:ext cx="1608237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Flow Duration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902919" y="2377976"/>
            <a:ext cx="1608237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time of a network flow session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1365" y="1948979"/>
            <a:ext cx="1923455" cy="91968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37549" y="2078013"/>
            <a:ext cx="1608237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Destination Port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937549" y="2377976"/>
            <a:ext cx="1608237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port number of the connection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6735" y="2979837"/>
            <a:ext cx="1923455" cy="91968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902919" y="3108871"/>
            <a:ext cx="1608237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Packet Length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902919" y="3408834"/>
            <a:ext cx="1608237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Size of packets transmitted in the flow</a:t>
            </a:r>
            <a:endParaRPr lang="en-US" sz="9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1365" y="2979837"/>
            <a:ext cx="1923455" cy="91968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37549" y="3108871"/>
            <a:ext cx="1608237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Flow Bytes/s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937549" y="3408834"/>
            <a:ext cx="1608237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Rate of bytes transferred per second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2D018D3-4ABE-F43C-9705-2C60E38F6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748" y="4844357"/>
            <a:ext cx="2075888" cy="2553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30845"/>
            <a:ext cx="8196114" cy="347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Methodology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865956"/>
            <a:ext cx="6544940" cy="36814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4653111"/>
            <a:ext cx="8653314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B6DCC7-5901-84DE-33D7-4D02A6E7C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748" y="4844357"/>
            <a:ext cx="2075888" cy="2553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37369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project follows a six-stage machine learning pipeline, beginning with data preprocessing and ending with model explainability. Each stage builds upon the previous one to ensure accurate, reliable, and interpretable intrusion detection.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3943" y="1249710"/>
            <a:ext cx="2369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3943" y="1436787"/>
            <a:ext cx="4038823" cy="14288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73943" y="1524595"/>
            <a:ext cx="403882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3943" y="1790477"/>
            <a:ext cx="403882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Merged CICIDS2017 files, removed missing and infinite values, eliminated duplicate records, and prepared a clean dataset.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31234" y="1249710"/>
            <a:ext cx="2369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31234" y="1436787"/>
            <a:ext cx="4038823" cy="14288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31234" y="1524595"/>
            <a:ext cx="403882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Exploratory Data Analysis (EDA)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1234" y="1790477"/>
            <a:ext cx="403882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Explored attack distribution, feature distributions, outliers, and correlations using visualizations.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3943" y="2376860"/>
            <a:ext cx="2369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3943" y="2552105"/>
            <a:ext cx="4038823" cy="14288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3943" y="2651745"/>
            <a:ext cx="403882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3943" y="2917627"/>
            <a:ext cx="403882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Encoded labels, separated features and target, performed a 60:40 train-test split, and applied feature scaling where required.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31234" y="2376860"/>
            <a:ext cx="2369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31234" y="2552105"/>
            <a:ext cx="4038823" cy="14288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31234" y="2651745"/>
            <a:ext cx="403882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31234" y="2917627"/>
            <a:ext cx="403882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Trained six machine learning models: Decision Tree, SVM, MLP, Random Forest, XGBoost, and LightGBM.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3943" y="3504009"/>
            <a:ext cx="2369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3943" y="3667423"/>
            <a:ext cx="4038823" cy="14288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3943" y="3778895"/>
            <a:ext cx="403882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943" y="4044776"/>
            <a:ext cx="403882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Compared model performance using Accuracy, Precision, Recall, F1-score, Classification Report, and Confusion Matrix.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31234" y="3504009"/>
            <a:ext cx="2369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31234" y="3667423"/>
            <a:ext cx="4038823" cy="14288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31234" y="3778895"/>
            <a:ext cx="403882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31234" y="4044776"/>
            <a:ext cx="403882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Feature Importance and SHAP to identify influential features and explain individual model predictions.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DADE6F1-834A-E6A2-52E7-8CED6F16A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748" y="4844357"/>
            <a:ext cx="2075888" cy="255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67308"/>
            <a:ext cx="8196114" cy="365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Models Used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3943" y="940891"/>
            <a:ext cx="8196114" cy="344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machine learning models were implemented and evaluated. Three baseline models were reproduced from the research paper, while three additional ensemble learning models were introduced to improve detection performance.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73943" y="1519535"/>
            <a:ext cx="1703933" cy="168697"/>
          </a:xfrm>
          <a:prstGeom prst="roundRect">
            <a:avLst>
              <a:gd name="adj" fmla="val 79016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0544" y="1552798"/>
            <a:ext cx="2027932" cy="102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MODELS (FROM PAPER)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805360"/>
            <a:ext cx="4301207" cy="8818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6406" y="1930673"/>
            <a:ext cx="3993431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6406" y="2217465"/>
            <a:ext cx="3993431" cy="344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Tree-based classifier that splits data using the most informative features. Fast, interpretable, and serves as a strong baseline model.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2791271"/>
            <a:ext cx="4301207" cy="8818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6406" y="2916585"/>
            <a:ext cx="3993431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SVM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56406" y="3203377"/>
            <a:ext cx="3993431" cy="344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Finds the optimal decision boundary between classes. Effective for high-dimensional data but computationally expensive.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3777183"/>
            <a:ext cx="4301207" cy="88180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6406" y="3902497"/>
            <a:ext cx="3993431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MLP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56406" y="4189288"/>
            <a:ext cx="3993431" cy="344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Neural network that learns complex, non-linear patterns from network traffic for multi-class classification.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050929" y="1519535"/>
            <a:ext cx="1664196" cy="168697"/>
          </a:xfrm>
          <a:prstGeom prst="roundRect">
            <a:avLst>
              <a:gd name="adj" fmla="val 79016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5117529" y="1552798"/>
            <a:ext cx="1988195" cy="102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EXTENDED MODELS (THIS WORK)</a:t>
            </a:r>
            <a:endParaRPr lang="en-US" sz="650" dirty="0"/>
          </a:p>
        </p:txBody>
      </p:sp>
      <p:sp>
        <p:nvSpPr>
          <p:cNvPr id="17" name="Shape 12"/>
          <p:cNvSpPr/>
          <p:nvPr/>
        </p:nvSpPr>
        <p:spPr>
          <a:xfrm>
            <a:off x="5050929" y="1805360"/>
            <a:ext cx="1759818" cy="1551533"/>
          </a:xfrm>
          <a:prstGeom prst="roundRect">
            <a:avLst>
              <a:gd name="adj" fmla="val 1073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5166717" y="1921148"/>
            <a:ext cx="1528242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166717" y="2207940"/>
            <a:ext cx="1528242" cy="103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multiple decision trees to improve accuracy and reduce overfitting. Robust ensemble method with strong generalization.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914852" y="1805360"/>
            <a:ext cx="1759893" cy="1551533"/>
          </a:xfrm>
          <a:prstGeom prst="roundRect">
            <a:avLst>
              <a:gd name="adj" fmla="val 1073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7030641" y="1921148"/>
            <a:ext cx="1528316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XGBoost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030641" y="2207940"/>
            <a:ext cx="1528316" cy="103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Builds trees sequentially using gradient boosting to improve prediction performance. Achieved the highest accuracy in this study.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050929" y="3460998"/>
            <a:ext cx="3623816" cy="1034951"/>
          </a:xfrm>
          <a:prstGeom prst="roundRect">
            <a:avLst>
              <a:gd name="adj" fmla="val 1610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5166717" y="3576786"/>
            <a:ext cx="339223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LightGBM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166717" y="3863578"/>
            <a:ext cx="3392239" cy="516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 gradient boosting algorithm designed for efficient training on large datasets. Optimized for speed with competitive accuracy.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E73E431-F46B-C63D-4D09-6E7FD5312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748" y="4844357"/>
            <a:ext cx="2075888" cy="2553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5568"/>
            <a:ext cx="819611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Performance Evaluation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3943" y="962248"/>
            <a:ext cx="8653314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Evaluation Metrics:</a:t>
            </a: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Accuracy • Precision • Recall • F1-Score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1437233"/>
            <a:ext cx="3960316" cy="372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99.80%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73943" y="1946970"/>
            <a:ext cx="396031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XGBoost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3943" y="2240310"/>
            <a:ext cx="3960316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performing model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3943" y="2688357"/>
            <a:ext cx="3960316" cy="372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99.66%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73943" y="3198093"/>
            <a:ext cx="396031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3943" y="3491433"/>
            <a:ext cx="3960316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ensemble runner-up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3943" y="3788941"/>
            <a:ext cx="3960316" cy="882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XGBoost achieved the highest accuracy (99.80%), followed closely by Random Forest (99.66%). Decision Tree and MLP also achieved over 99% accuracy, while SVM and LightGBM produced comparatively lower accuracy under the current experimental configuration.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14503" y="1380827"/>
            <a:ext cx="3960316" cy="2243063"/>
          </a:xfrm>
          <a:prstGeom prst="roundRect">
            <a:avLst>
              <a:gd name="adj" fmla="val 755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14503" y="1702966"/>
            <a:ext cx="3960316" cy="705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14503" y="2022723"/>
            <a:ext cx="3960316" cy="705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14503" y="2342480"/>
            <a:ext cx="3960316" cy="705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14503" y="2662238"/>
            <a:ext cx="3960316" cy="705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14503" y="2981995"/>
            <a:ext cx="3960316" cy="705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14503" y="3301752"/>
            <a:ext cx="3960316" cy="705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19414" y="1385590"/>
            <a:ext cx="1222325" cy="317376"/>
          </a:xfrm>
          <a:prstGeom prst="rect">
            <a:avLst/>
          </a:prstGeom>
          <a:solidFill>
            <a:srgbClr val="063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32300" y="1454869"/>
            <a:ext cx="1453753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1740" y="1385590"/>
            <a:ext cx="904280" cy="317376"/>
          </a:xfrm>
          <a:prstGeom prst="rect">
            <a:avLst/>
          </a:prstGeom>
          <a:solidFill>
            <a:srgbClr val="063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54626" y="1454869"/>
            <a:ext cx="1135707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Accuracy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46019" y="1385590"/>
            <a:ext cx="1824038" cy="317376"/>
          </a:xfrm>
          <a:prstGeom prst="rect">
            <a:avLst/>
          </a:prstGeom>
          <a:solidFill>
            <a:srgbClr val="063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958905" y="1454869"/>
            <a:ext cx="2055465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Notes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32300" y="1774627"/>
            <a:ext cx="1453753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XGBoost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054626" y="1774627"/>
            <a:ext cx="1135707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99.80%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958905" y="1774627"/>
            <a:ext cx="2055465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performing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32300" y="2094384"/>
            <a:ext cx="1453753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Random Forest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54626" y="2094384"/>
            <a:ext cx="1135707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99.66%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58905" y="2094384"/>
            <a:ext cx="2055465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ensemble model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32300" y="2414141"/>
            <a:ext cx="1453753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Decision Tree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54626" y="2414141"/>
            <a:ext cx="1135707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99</a:t>
            </a: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r>
              <a:rPr lang="en-US" sz="85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41%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58905" y="2414141"/>
            <a:ext cx="2055465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Baseline model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32300" y="2733898"/>
            <a:ext cx="1453753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MLP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54626" y="2733898"/>
            <a:ext cx="1135707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99.28%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58905" y="2733898"/>
            <a:ext cx="2055465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Neural Network classifier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32300" y="3053655"/>
            <a:ext cx="1453753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LightGBM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054626" y="3053655"/>
            <a:ext cx="1135707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92.81%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958905" y="3053655"/>
            <a:ext cx="2055465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Requires further tuning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32300" y="3373413"/>
            <a:ext cx="1453753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SVM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054626" y="3373413"/>
            <a:ext cx="1135707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96.56%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58905" y="3373413"/>
            <a:ext cx="2055465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Computationally intensive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14503" y="3744962"/>
            <a:ext cx="4417516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Takeaways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14503" y="4018211"/>
            <a:ext cx="3960316" cy="604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Ensemble models outperformed the baseline models.</a:t>
            </a:r>
            <a:endParaRPr lang="en-US" sz="850" dirty="0"/>
          </a:p>
          <a:p>
            <a:pPr marL="172720" indent="-172720" algn="l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Tree remained the strongest baseline model.</a:t>
            </a:r>
            <a:endParaRPr lang="en-US" sz="850" dirty="0"/>
          </a:p>
          <a:p>
            <a:pPr marL="172720" indent="-172720" algn="l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LightGBM may benefit from additional hyperparameter tuning.</a:t>
            </a:r>
            <a:endParaRPr lang="en-US" sz="8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0188290-87CE-7E67-2458-7E690B145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748" y="4844357"/>
            <a:ext cx="2075888" cy="2553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51309"/>
            <a:ext cx="8196114" cy="3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 Importance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73943" y="861194"/>
            <a:ext cx="8196114" cy="30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importance measures how much each feature contributes to the model's predictions. By ranking features according to their contribution, we gain a </a:t>
            </a:r>
            <a:r>
              <a:rPr lang="en-US" sz="8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global view of model behaviour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across the entire dataset — identifying which network traffic characteristics are most indicative of malicious activity.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360661"/>
            <a:ext cx="4480471" cy="10022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7179" y="1476747"/>
            <a:ext cx="4191149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is Feature Importance?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7179" y="1731615"/>
            <a:ext cx="4191149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Measures the contribution of each feature to the model.</a:t>
            </a:r>
            <a:endParaRPr lang="en-US" sz="800" dirty="0"/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importance indicates greater influence on predictions.</a:t>
            </a:r>
            <a:endParaRPr lang="en-US" sz="800" dirty="0"/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Helps identify the most informative network traffic characteristics.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43" y="2450381"/>
            <a:ext cx="4480471" cy="1366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7179" y="2566467"/>
            <a:ext cx="4191149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Features (XGBoost)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7179" y="2821335"/>
            <a:ext cx="4191149" cy="879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Idle Mean</a:t>
            </a:r>
            <a:endParaRPr lang="en-US" sz="800" dirty="0"/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Bwd Packet Length Std</a:t>
            </a:r>
            <a:endParaRPr lang="en-US" sz="800" dirty="0"/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act_data_pkt_fwd</a:t>
            </a:r>
            <a:endParaRPr lang="en-US" sz="800" dirty="0"/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Bwd Packet Length Mean</a:t>
            </a:r>
            <a:endParaRPr lang="en-US" sz="800" dirty="0"/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Length of Fwd Packets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3" y="3903985"/>
            <a:ext cx="4480471" cy="7897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7179" y="4020071"/>
            <a:ext cx="4191149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Global Insight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47179" y="4274939"/>
            <a:ext cx="4191149" cy="30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Shows which features consistently influence predictions across the entire dataset rather than explaining a single prediction.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5207571" y="1360661"/>
            <a:ext cx="1689869" cy="1788170"/>
          </a:xfrm>
          <a:prstGeom prst="roundRect">
            <a:avLst>
              <a:gd name="adj" fmla="val 903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/>
          <p:nvPr/>
        </p:nvSpPr>
        <p:spPr>
          <a:xfrm>
            <a:off x="5314131" y="1467222"/>
            <a:ext cx="1476747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Security Benefit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314131" y="1722090"/>
            <a:ext cx="1476747" cy="969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monitoring on the most influential traffic features.</a:t>
            </a:r>
            <a:endParaRPr lang="en-US" sz="800" dirty="0"/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 detection efficiency.</a:t>
            </a:r>
            <a:endParaRPr lang="en-US" sz="800" dirty="0"/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threat analysis.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6984876" y="1360661"/>
            <a:ext cx="1689869" cy="1788170"/>
          </a:xfrm>
          <a:prstGeom prst="roundRect">
            <a:avLst>
              <a:gd name="adj" fmla="val 903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7091437" y="1467222"/>
            <a:ext cx="1476747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Explainability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091437" y="1722090"/>
            <a:ext cx="1476747" cy="4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Bridges the gap Makes model decisions easier to understand.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091437" y="2254895"/>
            <a:ext cx="1476747" cy="7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Improves trust in intrusion detection systems.</a:t>
            </a:r>
            <a:endParaRPr lang="en-US" sz="800" dirty="0"/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deployment in real-world environments.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207571" y="3236268"/>
            <a:ext cx="3467174" cy="983233"/>
          </a:xfrm>
          <a:prstGeom prst="roundRect">
            <a:avLst>
              <a:gd name="adj" fmla="val 15534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5314131" y="3342829"/>
            <a:ext cx="3254053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 Optimization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314131" y="3597697"/>
            <a:ext cx="3254053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Low-importance features may be removed.</a:t>
            </a:r>
            <a:endParaRPr lang="en-US" sz="800" dirty="0"/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Reduces model complexity.</a:t>
            </a:r>
            <a:endParaRPr lang="en-US" sz="800" dirty="0"/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improve inference speed.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1CD5A66-5189-7CCA-423A-1D2C17FDF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9748" y="4844357"/>
            <a:ext cx="2075888" cy="2553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435322"/>
            <a:ext cx="4722242" cy="37957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9458" y="424011"/>
            <a:ext cx="2535287" cy="2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 Importance Analysis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139458" y="664890"/>
            <a:ext cx="2535287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Purpose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139458" y="926083"/>
            <a:ext cx="2535287" cy="65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25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Ranks features based on their contribution to XGBoost's predictions.</a:t>
            </a:r>
            <a:endParaRPr lang="en-US" sz="800" dirty="0"/>
          </a:p>
          <a:p>
            <a:pPr marL="162560" indent="-162560" algn="l">
              <a:lnSpc>
                <a:spcPct val="125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Highlights which network traffic characteristics are most influential.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139458" y="1670298"/>
            <a:ext cx="2535287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139458" y="1931491"/>
            <a:ext cx="2535287" cy="1151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25000"/>
              </a:lnSpc>
              <a:buSzPct val="100000"/>
              <a:buChar char="•"/>
            </a:pPr>
            <a:r>
              <a:rPr lang="en-US" sz="8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Idle_Mean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the most influential feature.</a:t>
            </a:r>
            <a:endParaRPr lang="en-US" sz="800" dirty="0"/>
          </a:p>
          <a:p>
            <a:pPr marL="162560" indent="-162560" algn="l">
              <a:lnSpc>
                <a:spcPct val="125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Packet length–related features play a major role in distinguishing benign and malicious traffic.</a:t>
            </a:r>
            <a:endParaRPr lang="en-US" sz="800" dirty="0"/>
          </a:p>
          <a:p>
            <a:pPr marL="162560" indent="-162560" algn="l">
              <a:lnSpc>
                <a:spcPct val="125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importance improves model interpretability and supports feature selection for future optimization.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73943" y="4469160"/>
            <a:ext cx="8196114" cy="340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9B12CF-796E-A35C-E2BC-3676A74CF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748" y="4844357"/>
            <a:ext cx="2075888" cy="2553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71190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SHAP Explainability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097831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SHAP (SHapley Additive exPlanations) improves model interpretability by explaining how each feature contributes to a prediction. It provides both global explanations (overall feature importance) and local explanations (individual predictions).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610171"/>
            <a:ext cx="2653010" cy="17620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7173" y="1733401"/>
            <a:ext cx="2406551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Summary Plot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7173" y="1999283"/>
            <a:ext cx="2406551" cy="1220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Shows the overall impact of each feature.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Displays how high and low feature values affect predictions.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Provides a global explanation across all samples.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5421" y="1610171"/>
            <a:ext cx="2653085" cy="17620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68650" y="1733401"/>
            <a:ext cx="240662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Bar Plot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368650" y="1999283"/>
            <a:ext cx="2406625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Ranks features by their average Ranks features by their average SHAP value.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368650" y="2449413"/>
            <a:ext cx="2406625" cy="799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Highlights the most influential features.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Summarizes global feature importance.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6972" y="1610171"/>
            <a:ext cx="2653010" cy="17620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40202" y="1733401"/>
            <a:ext cx="2406551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Force Plot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140202" y="1999283"/>
            <a:ext cx="2406551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Explains one individual prediction.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6140202" y="2259881"/>
            <a:ext cx="2406551" cy="610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Shows which features increased or decreased the prediction score.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Provides local model interpretability.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73943" y="3505498"/>
            <a:ext cx="8196114" cy="1166813"/>
          </a:xfrm>
          <a:prstGeom prst="roundRect">
            <a:avLst>
              <a:gd name="adj" fmla="val 15232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10" y="3673748"/>
            <a:ext cx="148084" cy="11846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8962" y="3653582"/>
            <a:ext cx="8149828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858962" y="3949750"/>
            <a:ext cx="7692628" cy="65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Explains why the model made a prediction.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Improves transparency and trust.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security analysts in understanding attack classifications.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DD30E94-7E5F-190D-9720-D5F430F820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9748" y="4844357"/>
            <a:ext cx="2075888" cy="2553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63364"/>
            <a:ext cx="8196114" cy="383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Improvements over the Research Paper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9930" y="919237"/>
            <a:ext cx="3699718" cy="3860825"/>
          </a:xfrm>
          <a:prstGeom prst="roundRect">
            <a:avLst>
              <a:gd name="adj" fmla="val 7566"/>
            </a:avLst>
          </a:prstGeom>
          <a:solidFill>
            <a:srgbClr val="063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6537" y="1033983"/>
            <a:ext cx="3466505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Original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6537" y="1340495"/>
            <a:ext cx="3466505" cy="131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Implemented using </a:t>
            </a: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MATLAB and KNIME</a:t>
            </a:r>
            <a:endParaRPr lang="en-US" sz="900" dirty="0"/>
          </a:p>
          <a:p>
            <a:pPr marL="182880" indent="-182880" algn="l">
              <a:lnSpc>
                <a:spcPct val="13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Evaluated </a:t>
            </a: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Decision Tree, SVM, MLP</a:t>
            </a:r>
            <a:endParaRPr lang="en-US" sz="900" dirty="0"/>
          </a:p>
          <a:p>
            <a:pPr marL="182880" indent="-182880" algn="l">
              <a:lnSpc>
                <a:spcPct val="13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Reported standard evaluation metrics</a:t>
            </a:r>
            <a:endParaRPr lang="en-US" sz="900" dirty="0"/>
          </a:p>
          <a:p>
            <a:pPr marL="182880" indent="-182880" algn="l">
              <a:lnSpc>
                <a:spcPct val="13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explainability analysis</a:t>
            </a:r>
            <a:endParaRPr lang="en-US" sz="900" dirty="0"/>
          </a:p>
          <a:p>
            <a:pPr marL="182880" indent="-182880" algn="l">
              <a:lnSpc>
                <a:spcPct val="13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ensemble learning models</a:t>
            </a:r>
            <a:endParaRPr lang="en-US" sz="900" dirty="0"/>
          </a:p>
          <a:p>
            <a:pPr marL="182880" indent="-182880" algn="l">
              <a:lnSpc>
                <a:spcPct val="13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EDA and feature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94956" y="1033983"/>
            <a:ext cx="4379788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This Implementation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8638" y="1360587"/>
            <a:ext cx="174947" cy="1749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73947" y="1354857"/>
            <a:ext cx="4000798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Reimplemented the complete pipeline in Python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8638" y="1945779"/>
            <a:ext cx="174947" cy="1749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73947" y="1940049"/>
            <a:ext cx="4000798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Added </a:t>
            </a: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Random Forest, XGBoost, and LightGBM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8638" y="2530971"/>
            <a:ext cx="174947" cy="1749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73947" y="2525241"/>
            <a:ext cx="4000798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Performed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comprehensive exploratory data analysis (EDA)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8638" y="3116163"/>
            <a:ext cx="174947" cy="1749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73947" y="3110433"/>
            <a:ext cx="4000798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Implemented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Feature Importance analysis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8638" y="3701355"/>
            <a:ext cx="174947" cy="1749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73947" y="3695626"/>
            <a:ext cx="4000798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Integrated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SHAP explainability</a:t>
            </a:r>
            <a:endParaRPr lang="en-US" sz="9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8638" y="4286548"/>
            <a:ext cx="174947" cy="17494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673947" y="4280818"/>
            <a:ext cx="4000798" cy="37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Compared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six machine learning models using multiple evaluation metrics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1CF003E-7529-39CC-2398-C50F87E69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748" y="4844357"/>
            <a:ext cx="2075888" cy="2553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68945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995586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successfully reproduced the original Network Intrusion Detection System using the CICIDS2017 dataset and extended it by incorporating ensemble learning models, comprehensive evaluation, and explainable AI techniques.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3943" y="1507927"/>
            <a:ext cx="4038823" cy="1080939"/>
          </a:xfrm>
          <a:prstGeom prst="roundRect">
            <a:avLst>
              <a:gd name="adj" fmla="val 1644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7173" y="1631156"/>
            <a:ext cx="379236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Reproduction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7173" y="1897038"/>
            <a:ext cx="3792364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Successfully reproduced the original machine learning pipeline in Python using the CICIDS2017 dataset, validating the methodology presented in the research paper.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31234" y="1507927"/>
            <a:ext cx="4038823" cy="1080939"/>
          </a:xfrm>
          <a:prstGeom prst="roundRect">
            <a:avLst>
              <a:gd name="adj" fmla="val 1644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463" y="1631156"/>
            <a:ext cx="379236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463" y="1897038"/>
            <a:ext cx="3792364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Evaluated six machine learning models. XGBoost achieved the highest accuracy of 99.80%, followed by Random Forest (99.66%), outperforming the baseline models.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3943" y="2707332"/>
            <a:ext cx="4038823" cy="1270471"/>
          </a:xfrm>
          <a:prstGeom prst="roundRect">
            <a:avLst>
              <a:gd name="adj" fmla="val 1398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7173" y="2830562"/>
            <a:ext cx="379236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7173" y="3096444"/>
            <a:ext cx="3792364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Importance and SHAP explainability improved model transparency by identifying influential features and explaining individual predictions, making the intrusion detection system easier to interpret.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31234" y="2707332"/>
            <a:ext cx="4038823" cy="1270471"/>
          </a:xfrm>
          <a:prstGeom prst="roundRect">
            <a:avLst>
              <a:gd name="adj" fmla="val 1398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463" y="2830562"/>
            <a:ext cx="379236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463" y="3096444"/>
            <a:ext cx="3792364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experimental results indicate that ensemble learning models, particularly XGBoost and Random Forest, achieved higher performance than the baseline models on the CICIDS2017 dataset.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3943" y="4111079"/>
            <a:ext cx="8196114" cy="663401"/>
          </a:xfrm>
          <a:prstGeom prst="roundRect">
            <a:avLst>
              <a:gd name="adj" fmla="val 26791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10" y="4279329"/>
            <a:ext cx="148084" cy="11846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58962" y="4259163"/>
            <a:ext cx="7692628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results demonstrate that XGBoost and Random Forest achieved the strongest performance in this implementation, combining high classification accuracy with improved interpretability through Feature Importance and SHAP analysis.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B1AE1E9-AF58-2771-CB3E-99CC7D7E9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748" y="4844357"/>
            <a:ext cx="2075888" cy="255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1466</Words>
  <Application>Microsoft Office PowerPoint</Application>
  <PresentationFormat>On-screen Show (16:9)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Montserrat Bold</vt:lpstr>
      <vt:lpstr>Barlow Light</vt:lpstr>
      <vt:lpstr>Montserrat</vt:lpstr>
      <vt:lpstr>Twemoji Mozilla</vt:lpstr>
      <vt:lpstr>Barlow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joshika medisetty</dc:creator>
  <cp:lastModifiedBy>joshika medisetty</cp:lastModifiedBy>
  <cp:revision>2</cp:revision>
  <dcterms:created xsi:type="dcterms:W3CDTF">2026-07-27T07:28:30Z</dcterms:created>
  <dcterms:modified xsi:type="dcterms:W3CDTF">2026-07-27T07:32:13Z</dcterms:modified>
</cp:coreProperties>
</file>